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2ED0-7B87-C69B-21FB-DCB2B152D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006" y="2472268"/>
            <a:ext cx="11174135" cy="956732"/>
          </a:xfrm>
        </p:spPr>
        <p:txBody>
          <a:bodyPr/>
          <a:lstStyle/>
          <a:p>
            <a:r>
              <a:rPr lang="en-US" b="1" dirty="0"/>
              <a:t>RISK ANALYTICS IN DIGITAL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B522B-D665-928C-4386-5595EFA71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664742" cy="1973123"/>
          </a:xfrm>
        </p:spPr>
        <p:txBody>
          <a:bodyPr>
            <a:norm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YERPULA JENNIFER</a:t>
            </a:r>
          </a:p>
          <a:p>
            <a:r>
              <a:rPr lang="en-US" dirty="0"/>
              <a:t>24MBMA30</a:t>
            </a:r>
          </a:p>
          <a:p>
            <a:r>
              <a:rPr lang="en-US" dirty="0"/>
              <a:t>MBA GENERAL </a:t>
            </a:r>
          </a:p>
        </p:txBody>
      </p:sp>
    </p:spTree>
    <p:extLst>
      <p:ext uri="{BB962C8B-B14F-4D97-AF65-F5344CB8AC3E}">
        <p14:creationId xmlns:p14="http://schemas.microsoft.com/office/powerpoint/2010/main" val="355635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0AB9-E14A-EAC0-205D-840F74EF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34891"/>
            <a:ext cx="10320555" cy="6040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      Fraud Detection and Prevention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07D9D-6610-5F3F-352B-FEAC9020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8" y="-352337"/>
            <a:ext cx="12029813" cy="8103766"/>
          </a:xfrm>
        </p:spPr>
        <p:txBody>
          <a:bodyPr/>
          <a:lstStyle/>
          <a:p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Financial institutions suffer significant losses from fraudulent transactions. The challenge is to build an automated, real-time system that can accurately identify and flag suspicious activity without creating friction for legitimate customers.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Methodology:</a:t>
            </a:r>
            <a:endParaRPr lang="en-US" dirty="0"/>
          </a:p>
          <a:p>
            <a:pPr lvl="1"/>
            <a:r>
              <a:rPr lang="en-US" b="1" dirty="0"/>
              <a:t>Task:</a:t>
            </a:r>
            <a:r>
              <a:rPr lang="en-US" dirty="0"/>
              <a:t> Binary Classification.</a:t>
            </a:r>
          </a:p>
          <a:p>
            <a:pPr lvl="1"/>
            <a:r>
              <a:rPr lang="en-US" b="1" dirty="0"/>
              <a:t>Model:</a:t>
            </a:r>
            <a:r>
              <a:rPr lang="en-US" dirty="0"/>
              <a:t> We selected </a:t>
            </a:r>
            <a:r>
              <a:rPr lang="en-US" b="1" dirty="0"/>
              <a:t>Logistic Regression</a:t>
            </a:r>
            <a:r>
              <a:rPr lang="en-US" dirty="0"/>
              <a:t> for its interpretability and efficiency.</a:t>
            </a:r>
          </a:p>
          <a:p>
            <a:pPr lvl="1"/>
            <a:r>
              <a:rPr lang="en-US" b="1" dirty="0"/>
              <a:t>Technique:</a:t>
            </a:r>
            <a:r>
              <a:rPr lang="en-US" dirty="0"/>
              <a:t> To address the severe class imbalance, we implemented </a:t>
            </a:r>
            <a:r>
              <a:rPr lang="en-US" b="1" dirty="0"/>
              <a:t>Weighted Logistic Regression</a:t>
            </a:r>
            <a:r>
              <a:rPr lang="en-US" dirty="0"/>
              <a:t>, assigning a higher penalty to misclassifying fraud cases.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Implementation &amp; Results:</a:t>
            </a:r>
            <a:br>
              <a:rPr lang="en-US" dirty="0"/>
            </a:br>
            <a:r>
              <a:rPr lang="en-US" dirty="0"/>
              <a:t>The model was implemented on Databricks using a </a:t>
            </a:r>
            <a:r>
              <a:rPr lang="en-US" dirty="0" err="1"/>
              <a:t>PySpark</a:t>
            </a:r>
            <a:r>
              <a:rPr lang="en-US" dirty="0"/>
              <a:t> ML Pipeline for automated feature engineering, including one-hot encoding for features like </a:t>
            </a:r>
            <a:r>
              <a:rPr lang="en-US" dirty="0" err="1"/>
              <a:t>Merchant_Type</a:t>
            </a:r>
            <a:r>
              <a:rPr lang="en-US" dirty="0"/>
              <a:t>. The final model achieved a strong </a:t>
            </a:r>
            <a:r>
              <a:rPr lang="en-US" b="1" dirty="0"/>
              <a:t>Area Under ROC (AUC) of [Your AUC Score]</a:t>
            </a:r>
            <a:r>
              <a:rPr lang="en-US" dirty="0"/>
              <a:t>, demonstrating an excellent ability to distinguish fraudulent from legitimate transactions. A key insight was that the transaction Amount was the most significant predictor. The business implication is a direct path to deploying a real-time alerting system that </a:t>
            </a:r>
            <a:r>
              <a:rPr lang="en-US" b="1" dirty="0"/>
              <a:t>proactively reduces financial losses</a:t>
            </a:r>
            <a:r>
              <a:rPr lang="en-US" dirty="0"/>
              <a:t> and enhances customer security.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4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CBC2-9A6B-B53D-DD2B-344A499A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813732"/>
            <a:ext cx="11050398" cy="3473042"/>
          </a:xfrm>
        </p:spPr>
        <p:txBody>
          <a:bodyPr/>
          <a:lstStyle/>
          <a:p>
            <a:r>
              <a:rPr lang="en-US" sz="3200" b="1" dirty="0"/>
              <a:t>      Credit Risk Scoring and Loan Default Prediction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4656-4A5F-0BA7-6C83-4F16DF1CF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35" y="864066"/>
            <a:ext cx="11903978" cy="6962862"/>
          </a:xfrm>
        </p:spPr>
        <p:txBody>
          <a:bodyPr/>
          <a:lstStyle/>
          <a:p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While lending is a primary revenue source, loan defaults pose a major financial risk. The objective is to accurately predict the likelihood of a customer defaulting on a loan, enabling the institution to make more informed and profitable lending decisions.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Methodology:</a:t>
            </a:r>
            <a:endParaRPr lang="en-US" dirty="0"/>
          </a:p>
          <a:p>
            <a:pPr lvl="1"/>
            <a:r>
              <a:rPr lang="en-US" b="1" dirty="0"/>
              <a:t>Task:</a:t>
            </a:r>
            <a:r>
              <a:rPr lang="en-US" dirty="0"/>
              <a:t> Binary Classification.</a:t>
            </a:r>
          </a:p>
          <a:p>
            <a:pPr lvl="1"/>
            <a:r>
              <a:rPr lang="en-US" b="1" dirty="0"/>
              <a:t>Model:</a:t>
            </a:r>
            <a:r>
              <a:rPr lang="en-US" dirty="0"/>
              <a:t> We chose a </a:t>
            </a:r>
            <a:r>
              <a:rPr lang="en-US" b="1" dirty="0"/>
              <a:t>Random Forest Classifier</a:t>
            </a:r>
            <a:r>
              <a:rPr lang="en-US" dirty="0"/>
              <a:t> for its high accuracy and ability to capture complex interactions between features.</a:t>
            </a:r>
          </a:p>
          <a:p>
            <a:pPr lvl="1"/>
            <a:r>
              <a:rPr lang="en-US" b="1" dirty="0"/>
              <a:t>Feature Engineering:</a:t>
            </a:r>
            <a:r>
              <a:rPr lang="en-US" dirty="0"/>
              <a:t> We created an EMI-to-Income ratio to better represent a customer's financial burden.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Implementation &amp; Results:</a:t>
            </a:r>
            <a:br>
              <a:rPr lang="en-US" dirty="0"/>
            </a:br>
            <a:r>
              <a:rPr lang="en-US" dirty="0"/>
              <a:t>Implemented in </a:t>
            </a:r>
            <a:r>
              <a:rPr lang="en-US" dirty="0" err="1"/>
              <a:t>PySpark</a:t>
            </a:r>
            <a:r>
              <a:rPr lang="en-US" dirty="0"/>
              <a:t> on Databricks, the model utilized the engineered EMI-to-Income ratio alongside customer profile data like </a:t>
            </a:r>
            <a:r>
              <a:rPr lang="en-US" dirty="0" err="1"/>
              <a:t>Credit_Score</a:t>
            </a:r>
            <a:r>
              <a:rPr lang="en-US" dirty="0"/>
              <a:t>. This solution achieved high predictive power with an </a:t>
            </a:r>
            <a:r>
              <a:rPr lang="en-US" b="1" dirty="0"/>
              <a:t>AUC of [Your AUC Score]</a:t>
            </a:r>
            <a:r>
              <a:rPr lang="en-US" dirty="0"/>
              <a:t>. The most critical insight was that the engineered ratio was a more powerful predictor of default than </a:t>
            </a:r>
            <a:r>
              <a:rPr lang="en-US" dirty="0" err="1"/>
              <a:t>Credit_Score</a:t>
            </a:r>
            <a:r>
              <a:rPr lang="en-US" dirty="0"/>
              <a:t> alone. This enables the bank to </a:t>
            </a:r>
            <a:r>
              <a:rPr lang="en-US" b="1" dirty="0"/>
              <a:t>minimize its default rate</a:t>
            </a:r>
            <a:r>
              <a:rPr lang="en-US" dirty="0"/>
              <a:t> by making smarter, data-driven lending decisions and implementing dynamic, risk-based pricing for its loan portfolio.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8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F171-536D-6343-B8D3-6A8813CE4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356" y="-201335"/>
            <a:ext cx="9571838" cy="2130804"/>
          </a:xfrm>
        </p:spPr>
        <p:txBody>
          <a:bodyPr/>
          <a:lstStyle/>
          <a:p>
            <a:r>
              <a:rPr lang="en-US" sz="3200" b="1" dirty="0"/>
              <a:t>    Customer &amp; Market Intelligence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88652-3166-33BA-1AE8-AE9867011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47" y="880844"/>
            <a:ext cx="11845255" cy="645113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The need for deeper customer understanding and smarter market interpretation is critical. Generic marketing often fails to engage diverse customers, while sentiment-driven trading decisions may lack reliability. The objective is to segment customers for personalized banking and to assess whether market sentiment has a measurable impact on stock performance.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Methodology</a:t>
            </a:r>
          </a:p>
          <a:p>
            <a:r>
              <a:rPr lang="en-US" dirty="0"/>
              <a:t>Using </a:t>
            </a:r>
            <a:r>
              <a:rPr lang="en-US" b="1" dirty="0" err="1"/>
              <a:t>PySpark</a:t>
            </a:r>
            <a:r>
              <a:rPr lang="en-US" dirty="0"/>
              <a:t>, two analytical models were implemented:</a:t>
            </a:r>
          </a:p>
          <a:p>
            <a:r>
              <a:rPr lang="en-US" b="1" dirty="0"/>
              <a:t>Customer Segmentation:</a:t>
            </a:r>
            <a:r>
              <a:rPr lang="en-US" dirty="0"/>
              <a:t> Applied </a:t>
            </a:r>
            <a:r>
              <a:rPr lang="en-US" b="1" dirty="0"/>
              <a:t>K-Means Clustering</a:t>
            </a:r>
            <a:r>
              <a:rPr lang="en-US" dirty="0"/>
              <a:t> (unsupervised learning) on customer data, considering financial behavior variables such as income, spending, and investment patterns.</a:t>
            </a:r>
          </a:p>
          <a:p>
            <a:r>
              <a:rPr lang="en-US" b="1" dirty="0"/>
              <a:t>Stock Market Sentiment Analysis:</a:t>
            </a:r>
            <a:r>
              <a:rPr lang="en-US" dirty="0"/>
              <a:t> Employed </a:t>
            </a:r>
            <a:r>
              <a:rPr lang="en-US" b="1" dirty="0"/>
              <a:t>Pearson Correlation</a:t>
            </a:r>
            <a:r>
              <a:rPr lang="en-US" dirty="0"/>
              <a:t> to quantify the relationship between </a:t>
            </a:r>
            <a:r>
              <a:rPr lang="en-US" b="1" dirty="0" err="1"/>
              <a:t>Stock_Sentiment_Score</a:t>
            </a:r>
            <a:r>
              <a:rPr lang="en-US" dirty="0"/>
              <a:t> and </a:t>
            </a:r>
            <a:r>
              <a:rPr lang="en-US" b="1" dirty="0" err="1"/>
              <a:t>Stock_Return</a:t>
            </a:r>
            <a:r>
              <a:rPr lang="en-US" dirty="0"/>
              <a:t>, followed by </a:t>
            </a:r>
            <a:r>
              <a:rPr lang="en-US" b="1" dirty="0"/>
              <a:t>Linear Regression</a:t>
            </a:r>
            <a:r>
              <a:rPr lang="en-US" dirty="0"/>
              <a:t> to model this dependency.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Implementation &amp; Results</a:t>
            </a:r>
          </a:p>
          <a:p>
            <a:r>
              <a:rPr lang="en-US" dirty="0"/>
              <a:t>The customer segmentation model identified </a:t>
            </a:r>
            <a:r>
              <a:rPr lang="en-US" b="1" dirty="0"/>
              <a:t>four distinct personas</a:t>
            </a:r>
            <a:r>
              <a:rPr lang="en-US" dirty="0"/>
              <a:t>: </a:t>
            </a:r>
            <a:r>
              <a:rPr lang="en-US" i="1" dirty="0"/>
              <a:t>High-Value Investors, Prudent Borrowers, Emerging Professionals,</a:t>
            </a:r>
            <a:r>
              <a:rPr lang="en-US" dirty="0"/>
              <a:t> and </a:t>
            </a:r>
            <a:r>
              <a:rPr lang="en-US" i="1" dirty="0"/>
              <a:t>At-Risk Customers,</a:t>
            </a:r>
            <a:r>
              <a:rPr lang="en-US" dirty="0"/>
              <a:t> providing a framework for </a:t>
            </a:r>
            <a:r>
              <a:rPr lang="en-US" b="1" dirty="0"/>
              <a:t>hyper-targeted marketing</a:t>
            </a:r>
            <a:r>
              <a:rPr lang="en-US" dirty="0"/>
              <a:t> that improves engagement and ROI. Meanwhile, the sentiment analysis revealed only a </a:t>
            </a:r>
            <a:r>
              <a:rPr lang="en-US" b="1" dirty="0"/>
              <a:t>weak positive correlation (r = [Your Correlation Value])</a:t>
            </a:r>
            <a:r>
              <a:rPr lang="en-US" dirty="0"/>
              <a:t>, indicating that while market sentiment affects stock returns to a small extent, it should be treated as a </a:t>
            </a:r>
            <a:r>
              <a:rPr lang="en-US" b="1" dirty="0"/>
              <a:t>supplementary factor</a:t>
            </a:r>
            <a:r>
              <a:rPr lang="en-US" dirty="0"/>
              <a:t> rather than a standalone predictor in trading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88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B07F-5CC7-1864-5B12-86939E4A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01336"/>
            <a:ext cx="10131425" cy="1291905"/>
          </a:xfrm>
        </p:spPr>
        <p:txBody>
          <a:bodyPr>
            <a:normAutofit/>
          </a:bodyPr>
          <a:lstStyle/>
          <a:p>
            <a:r>
              <a:rPr lang="en-US" sz="3200" b="1" dirty="0"/>
              <a:t>      Insurance Claim Analytics and Risk Prediction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B050-76B3-9A3C-B887-FFA3AEB5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783" y="939568"/>
            <a:ext cx="11618752" cy="6274964"/>
          </a:xfrm>
        </p:spPr>
        <p:txBody>
          <a:bodyPr>
            <a:normAutofit/>
          </a:bodyPr>
          <a:lstStyle/>
          <a:p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The profitability of an insurance company hinges on its ability to accurately price policies according to the risk level of each customer. The goal is to predict the likelihood that a customer will file a claim, allowing for more precise and sustainable premium pricing.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Methodology:</a:t>
            </a:r>
            <a:endParaRPr lang="en-US" dirty="0"/>
          </a:p>
          <a:p>
            <a:pPr lvl="1"/>
            <a:r>
              <a:rPr lang="en-US" b="1" dirty="0"/>
              <a:t>Task:</a:t>
            </a:r>
            <a:r>
              <a:rPr lang="en-US" dirty="0"/>
              <a:t> Binary Classification.</a:t>
            </a:r>
          </a:p>
          <a:p>
            <a:pPr lvl="1"/>
            <a:r>
              <a:rPr lang="en-US" b="1" dirty="0"/>
              <a:t>Model:</a:t>
            </a:r>
            <a:r>
              <a:rPr lang="en-US" dirty="0"/>
              <a:t> We chose a </a:t>
            </a:r>
            <a:r>
              <a:rPr lang="en-US" b="1" dirty="0"/>
              <a:t>Gradient-Boosted Tree (GBT) Classifier</a:t>
            </a:r>
            <a:r>
              <a:rPr lang="en-US" dirty="0"/>
              <a:t>, a powerful ensemble model known for its high accuracy.</a:t>
            </a:r>
          </a:p>
          <a:p>
            <a:pPr lvl="1"/>
            <a:r>
              <a:rPr lang="en-US" b="1" dirty="0"/>
              <a:t>Evaluation:</a:t>
            </a:r>
            <a:r>
              <a:rPr lang="en-US" dirty="0"/>
              <a:t> Model performance was primarily measured by the AUC score.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Implementation &amp; Results:</a:t>
            </a:r>
            <a:br>
              <a:rPr lang="en-US" dirty="0"/>
            </a:br>
            <a:r>
              <a:rPr lang="en-US" dirty="0"/>
              <a:t>This predictive model was built on Databricks using a </a:t>
            </a:r>
            <a:r>
              <a:rPr lang="en-US" dirty="0" err="1"/>
              <a:t>PySpark</a:t>
            </a:r>
            <a:r>
              <a:rPr lang="en-US" dirty="0"/>
              <a:t> ML Pipeline to process features like </a:t>
            </a:r>
            <a:r>
              <a:rPr lang="en-US" dirty="0" err="1"/>
              <a:t>Risk_Score</a:t>
            </a:r>
            <a:r>
              <a:rPr lang="en-US" dirty="0"/>
              <a:t>, Age, and Occupation for the GBT classifier. The model proved highly effective at identifying high-risk individuals, achieving an </a:t>
            </a:r>
            <a:r>
              <a:rPr lang="en-US" b="1" dirty="0"/>
              <a:t>AUC of [Your AUC Score]</a:t>
            </a:r>
            <a:r>
              <a:rPr lang="en-US" dirty="0"/>
              <a:t>. The most important finding was the validation of the </a:t>
            </a:r>
            <a:r>
              <a:rPr lang="en-US" dirty="0" err="1"/>
              <a:t>Risk_Score</a:t>
            </a:r>
            <a:r>
              <a:rPr lang="en-US" dirty="0"/>
              <a:t> as the single most influential predictor of a claim. This model directly enables </a:t>
            </a:r>
            <a:r>
              <a:rPr lang="en-US" b="1" dirty="0"/>
              <a:t>dynamic, risk-based pricing</a:t>
            </a:r>
            <a:r>
              <a:rPr lang="en-US" dirty="0"/>
              <a:t>, ensuring that premiums accurately reflect risk and helping the claims department forecast workload more accurately.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31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3E966-8529-26BB-7762-6068DE59F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65" y="-394282"/>
            <a:ext cx="10028661" cy="2315361"/>
          </a:xfrm>
        </p:spPr>
        <p:txBody>
          <a:bodyPr/>
          <a:lstStyle/>
          <a:p>
            <a:r>
              <a:rPr lang="en-US" b="1" dirty="0"/>
              <a:t>           </a:t>
            </a:r>
            <a:r>
              <a:rPr lang="en-US" sz="3200" b="1" dirty="0"/>
              <a:t>Project Summary &amp; 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91DB7-4BB8-1DC7-C93D-3C7E20E34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25" y="335560"/>
            <a:ext cx="11828477" cy="7147420"/>
          </a:xfrm>
        </p:spPr>
        <p:txBody>
          <a:bodyPr>
            <a:normAutofit/>
          </a:bodyPr>
          <a:lstStyle/>
          <a:p>
            <a:r>
              <a:rPr lang="en-US" b="1" dirty="0"/>
              <a:t>Project Summary:</a:t>
            </a:r>
            <a:br>
              <a:rPr lang="en-US" dirty="0"/>
            </a:br>
            <a:r>
              <a:rPr lang="en-US" dirty="0"/>
              <a:t>This capstone project successfully demonstrated the end-to-end development of a multi-faceted financial analytics platform on Databricks. We transformed raw data into a suite of high-impact machine learning models that address critical business needs in security, lending, marketing, and risk management.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Holistic Impact:</a:t>
            </a:r>
            <a:br>
              <a:rPr lang="en-US" dirty="0"/>
            </a:br>
            <a:r>
              <a:rPr lang="en-US" dirty="0"/>
              <a:t>The true power of this platform lies in the </a:t>
            </a:r>
            <a:r>
              <a:rPr lang="en-US" b="1" dirty="0"/>
              <a:t>synergy between the models</a:t>
            </a:r>
            <a:r>
              <a:rPr lang="en-US" dirty="0"/>
              <a:t>. Insights from one area can directly enhance another. For example, the "At-Risk Customer" segment can be used as a powerful new feature to improve the accuracy of both the credit default and insurance claim models. This creates a learning ecosystem that drives intelligent decision-making across the entire organization.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Future Directions:</a:t>
            </a:r>
            <a:endParaRPr lang="en-US" dirty="0"/>
          </a:p>
          <a:p>
            <a:pPr lvl="1"/>
            <a:r>
              <a:rPr lang="en-US" b="1" dirty="0"/>
              <a:t>Deployment:</a:t>
            </a:r>
            <a:r>
              <a:rPr lang="en-US" dirty="0"/>
              <a:t> Package the models into REST APIs for real-time scoring in production applications.</a:t>
            </a:r>
          </a:p>
          <a:p>
            <a:pPr lvl="1"/>
            <a:r>
              <a:rPr lang="en-US" b="1" dirty="0"/>
              <a:t>Advanced Modeling:</a:t>
            </a:r>
            <a:r>
              <a:rPr lang="en-US" dirty="0"/>
              <a:t> Explore more complex algorithms like </a:t>
            </a:r>
            <a:r>
              <a:rPr lang="en-US" dirty="0" err="1"/>
              <a:t>XGBoost</a:t>
            </a:r>
            <a:r>
              <a:rPr lang="en-US" dirty="0"/>
              <a:t> and Neural Networks to further boost predictive accuracy.</a:t>
            </a:r>
          </a:p>
          <a:p>
            <a:pPr lvl="1"/>
            <a:r>
              <a:rPr lang="en-US" b="1" dirty="0"/>
              <a:t>Explainable AI (XAI):</a:t>
            </a:r>
            <a:r>
              <a:rPr lang="en-US" dirty="0"/>
              <a:t> Integrate tools like SHAP to provide clear, human-readable explanations for model predictions, which is crucial for regulatory compliance in finance.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236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{5F7B97CA-2EFB-43A1-A8CA-43D53354E091}TFb5ae2469-0bae-4978-b0e0-39dd046150ff9a115ede-a9c3cc5252b0</Template>
  <TotalTime>45</TotalTime>
  <Words>1000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RISK ANALYTICS IN DIGITAL FINANCE</vt:lpstr>
      <vt:lpstr>                Fraud Detection and Prevention</vt:lpstr>
      <vt:lpstr>      Credit Risk Scoring and Loan Default Prediction </vt:lpstr>
      <vt:lpstr>    Customer &amp; Market Intelligence </vt:lpstr>
      <vt:lpstr>      Insurance Claim Analytics and Risk Prediction </vt:lpstr>
      <vt:lpstr>           Project Summary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Yerpula Jennifer</dc:creator>
  <cp:lastModifiedBy>Yerpula Jennifer</cp:lastModifiedBy>
  <cp:revision>1</cp:revision>
  <dcterms:created xsi:type="dcterms:W3CDTF">2025-11-10T16:04:31Z</dcterms:created>
  <dcterms:modified xsi:type="dcterms:W3CDTF">2025-11-10T16:49:55Z</dcterms:modified>
</cp:coreProperties>
</file>